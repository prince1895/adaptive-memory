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65" r:id="rId2"/>
    <p:sldId id="268" r:id="rId3"/>
    <p:sldId id="269" r:id="rId4"/>
    <p:sldId id="271" r:id="rId5"/>
    <p:sldId id="270" r:id="rId6"/>
    <p:sldId id="272" r:id="rId7"/>
    <p:sldId id="273" r:id="rId8"/>
    <p:sldId id="274" r:id="rId9"/>
    <p:sldId id="275" r:id="rId10"/>
    <p:sldId id="277" r:id="rId11"/>
    <p:sldId id="27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BB9B5-33DD-7B91-9FFF-E5F4D359D9F8}" v="2" dt="2026-08-30T13:06:12.9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5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78584-52B0-FC4D-AE45-7301D11129A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104865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65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5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1077D-BC7D-1E45-ACAB-88A9C84F9F6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95D5D-C307-4246-8476-41DB74C33D46}" type="datetime1">
              <a:rPr lang="en-IN" smtClean="0"/>
              <a:t>30-08-2026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0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E540-CE26-4126-8871-312CD2703E38}" type="datetime1">
              <a:rPr lang="en-IN" smtClean="0"/>
              <a:t>30-08-2026</a:t>
            </a:fld>
            <a:endParaRPr lang="en-IN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79E6A-2CAE-41FB-BC2C-0E29DD107FA1}" type="datetime1">
              <a:rPr lang="en-IN" smtClean="0"/>
              <a:t>30-08-2026</a:t>
            </a:fld>
            <a:endParaRPr lang="en-IN"/>
          </a:p>
        </p:txBody>
      </p:sp>
      <p:sp>
        <p:nvSpPr>
          <p:cNvPr id="104862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0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1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1CC91-4A05-4C69-92E9-E7F6B08557A7}" type="datetime1">
              <a:rPr lang="en-IN" smtClean="0"/>
              <a:t>30-08-2026</a:t>
            </a:fld>
            <a:endParaRPr lang="en-IN"/>
          </a:p>
        </p:txBody>
      </p:sp>
      <p:sp>
        <p:nvSpPr>
          <p:cNvPr id="104863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6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7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9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A21BE-E947-43F8-B13C-F3DC85DD0B51}" type="datetime1">
              <a:rPr lang="en-IN" smtClean="0"/>
              <a:t>30-08-2026</a:t>
            </a:fld>
            <a:endParaRPr lang="en-IN"/>
          </a:p>
        </p:txBody>
      </p:sp>
      <p:sp>
        <p:nvSpPr>
          <p:cNvPr id="104864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0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EE77B-B72D-440C-8F87-4FEA83DC5620}" type="datetime1">
              <a:rPr lang="en-IN" smtClean="0"/>
              <a:t>30-08-2026</a:t>
            </a:fld>
            <a:endParaRPr lang="en-IN"/>
          </a:p>
        </p:txBody>
      </p:sp>
      <p:sp>
        <p:nvSpPr>
          <p:cNvPr id="104860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0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6257-D14A-4E72-8965-53E6763DC438}" type="datetime1">
              <a:rPr lang="en-IN" smtClean="0"/>
              <a:t>30-08-2026</a:t>
            </a:fld>
            <a:endParaRPr lang="en-IN"/>
          </a:p>
        </p:txBody>
      </p:sp>
      <p:sp>
        <p:nvSpPr>
          <p:cNvPr id="104864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7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8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C397B-532E-4512-836E-281DBA3AEE89}" type="datetime1">
              <a:rPr lang="en-IN" smtClean="0"/>
              <a:t>30-08-2026</a:t>
            </a:fld>
            <a:endParaRPr lang="en-IN"/>
          </a:p>
        </p:txBody>
      </p:sp>
      <p:sp>
        <p:nvSpPr>
          <p:cNvPr id="104865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4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615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6EF1-84EC-496C-B358-741022CA657A}" type="datetime1">
              <a:rPr lang="en-IN" smtClean="0"/>
              <a:t>30-08-2026</a:t>
            </a:fld>
            <a:endParaRPr lang="en-IN"/>
          </a:p>
        </p:txBody>
      </p:sp>
      <p:sp>
        <p:nvSpPr>
          <p:cNvPr id="104861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A5EB-6D31-44E1-BC64-A11ACFAACC94}" type="datetime1">
              <a:rPr lang="en-IN" smtClean="0"/>
              <a:t>30-08-2026</a:t>
            </a:fld>
            <a:endParaRPr lang="en-IN"/>
          </a:p>
        </p:txBody>
      </p:sp>
      <p:sp>
        <p:nvSpPr>
          <p:cNvPr id="10486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0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35DC-3522-49DD-9962-70C289BAF9DE}" type="datetime1">
              <a:rPr lang="en-IN" smtClean="0"/>
              <a:t>30-08-2026</a:t>
            </a:fld>
            <a:endParaRPr lang="en-IN"/>
          </a:p>
        </p:txBody>
      </p:sp>
      <p:sp>
        <p:nvSpPr>
          <p:cNvPr id="10486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8B6D-A843-4976-BA70-A811246CC56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79B9D-6321-49C7-869C-8C553B067A02}" type="datetime1">
              <a:rPr lang="en-IN" smtClean="0"/>
              <a:t>30-08-2026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E8B6D-A843-4976-BA70-A811246CC56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86" name="Process 4"/>
          <p:cNvSpPr/>
          <p:nvPr/>
        </p:nvSpPr>
        <p:spPr>
          <a:xfrm>
            <a:off x="0" y="13184"/>
            <a:ext cx="12192000" cy="685800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2495600" y="4575442"/>
            <a:ext cx="7499350" cy="156845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N" altLang="en-US" sz="2000" u="sng">
                <a:solidFill>
                  <a:schemeClr val="tx1"/>
                </a:solidFill>
                <a:latin typeface="Times New Roman"/>
                <a:cs typeface="Times New Roman"/>
              </a:rPr>
              <a:t>By: Group-26</a:t>
            </a:r>
            <a:br>
              <a:rPr lang="en-IN" altLang="en-US" sz="2000" u="sng" dirty="0">
                <a:latin typeface="Times New Roman"/>
                <a:cs typeface="Times New Roman"/>
              </a:rPr>
            </a:br>
            <a:r>
              <a:rPr lang="en-IN" altLang="en-US" sz="2000" u="sng">
                <a:solidFill>
                  <a:schemeClr val="tx1"/>
                </a:solidFill>
                <a:latin typeface="Times New Roman"/>
                <a:cs typeface="Times New Roman"/>
              </a:rPr>
              <a:t>Prince Kumar</a:t>
            </a:r>
            <a:br>
              <a:rPr lang="en-IN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2000" u="sng" dirty="0">
                <a:solidFill>
                  <a:schemeClr val="tx1"/>
                </a:solidFill>
                <a:latin typeface="Times New Roman"/>
                <a:cs typeface="Times New Roman"/>
              </a:rPr>
              <a:t>Kartikey</a:t>
            </a:r>
            <a:br>
              <a:rPr lang="en-IN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2000" u="sng" dirty="0">
                <a:solidFill>
                  <a:schemeClr val="tx1"/>
                </a:solidFill>
                <a:latin typeface="Times New Roman"/>
                <a:cs typeface="Times New Roman"/>
              </a:rPr>
              <a:t>Mohd. Uzair</a:t>
            </a:r>
            <a:br>
              <a:rPr lang="en-IN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8" name="Subtitle 2"/>
          <p:cNvSpPr txBox="1"/>
          <p:nvPr/>
        </p:nvSpPr>
        <p:spPr>
          <a:xfrm>
            <a:off x="1370137" y="2212455"/>
            <a:ext cx="9505055" cy="584775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 defTabSz="685800"/>
            <a:r>
              <a:rPr lang="en-US" sz="2400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lang="en-US" sz="2400" b="1" baseline="30000">
                <a:solidFill>
                  <a:srgbClr val="FF0000"/>
                </a:solidFill>
                <a:latin typeface="Times New Roman"/>
                <a:cs typeface="Times New Roman"/>
              </a:rPr>
              <a:t>st</a:t>
            </a:r>
            <a:r>
              <a:rPr lang="en-US" sz="2400" b="1">
                <a:solidFill>
                  <a:srgbClr val="FF0000"/>
                </a:solidFill>
                <a:latin typeface="Times New Roman"/>
                <a:cs typeface="Times New Roman"/>
              </a:rPr>
              <a:t> Mini Project Presentation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2097152" name="Picture 5"/>
          <p:cNvPicPr>
            <a:picLocks noChangeAspect="1"/>
          </p:cNvPicPr>
          <p:nvPr/>
        </p:nvPicPr>
        <p:blipFill>
          <a:blip r:embed="rId2"/>
          <a:srcRect l="73885"/>
          <a:stretch>
            <a:fillRect/>
          </a:stretch>
        </p:blipFill>
        <p:spPr>
          <a:xfrm>
            <a:off x="4619836" y="153473"/>
            <a:ext cx="2952328" cy="1206863"/>
          </a:xfrm>
          <a:prstGeom prst="rect">
            <a:avLst/>
          </a:prstGeom>
        </p:spPr>
      </p:pic>
      <p:sp>
        <p:nvSpPr>
          <p:cNvPr id="1048589" name="TextBox 6"/>
          <p:cNvSpPr txBox="1"/>
          <p:nvPr/>
        </p:nvSpPr>
        <p:spPr>
          <a:xfrm>
            <a:off x="1134815" y="3126689"/>
            <a:ext cx="10225136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3200" b="1">
                <a:latin typeface="Times New Roman"/>
                <a:cs typeface="Times New Roman"/>
              </a:rPr>
              <a:t>Project Name: Adaptive Memory Lifecycle Management for Long-Running Agentic AI Systems</a:t>
            </a:r>
            <a:endParaRPr lang="en-IN" sz="32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48590" name="TextBox 1"/>
          <p:cNvSpPr txBox="1"/>
          <p:nvPr/>
        </p:nvSpPr>
        <p:spPr>
          <a:xfrm>
            <a:off x="1775520" y="1556792"/>
            <a:ext cx="9217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 Data Science</a:t>
            </a:r>
            <a:endParaRPr lang="en-IN" sz="2800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900"/>
    </mc:Choice>
    <mc:Fallback xmlns="">
      <p:transition spd="slow" advTm="469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24E84-89D5-CB99-3773-A0349FCC0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91" name="Process 4">
            <a:extLst>
              <a:ext uri="{FF2B5EF4-FFF2-40B4-BE49-F238E27FC236}">
                <a16:creationId xmlns:a16="http://schemas.microsoft.com/office/drawing/2014/main" id="{50A33B64-0F75-639A-E317-5A92BE28A115}"/>
              </a:ext>
            </a:extLst>
          </p:cNvPr>
          <p:cNvSpPr/>
          <p:nvPr/>
        </p:nvSpPr>
        <p:spPr>
          <a:xfrm>
            <a:off x="-281" y="0"/>
            <a:ext cx="12192000" cy="705549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Introduction </a:t>
            </a:r>
          </a:p>
          <a:p>
            <a:pPr algn="ctr"/>
            <a:r>
              <a:rPr lang="en-US"/>
              <a:t>Methodology with flow diagram </a:t>
            </a:r>
          </a:p>
          <a:p>
            <a:pPr algn="ctr"/>
            <a:r>
              <a:rPr lang="en-US"/>
              <a:t>Complete implementation </a:t>
            </a:r>
          </a:p>
          <a:p>
            <a:pPr algn="ctr"/>
            <a:r>
              <a:rPr lang="en-US"/>
              <a:t>Research Paper 1 status- Certificate </a:t>
            </a:r>
          </a:p>
          <a:p>
            <a:pPr algn="ctr"/>
            <a:r>
              <a:rPr lang="en-US"/>
              <a:t>Research Paper 2 Status - Acceptance </a:t>
            </a:r>
          </a:p>
          <a:p>
            <a:pPr algn="ctr"/>
            <a:r>
              <a:rPr lang="en-US"/>
              <a:t>Reference</a:t>
            </a:r>
          </a:p>
        </p:txBody>
      </p:sp>
      <p:pic>
        <p:nvPicPr>
          <p:cNvPr id="2097153" name="Picture 2" descr="ABESEC OLA">
            <a:extLst>
              <a:ext uri="{FF2B5EF4-FFF2-40B4-BE49-F238E27FC236}">
                <a16:creationId xmlns:a16="http://schemas.microsoft.com/office/drawing/2014/main" id="{3CFD437E-0DFD-2054-427F-55228E391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2" name="Title 1">
            <a:extLst>
              <a:ext uri="{FF2B5EF4-FFF2-40B4-BE49-F238E27FC236}">
                <a16:creationId xmlns:a16="http://schemas.microsoft.com/office/drawing/2014/main" id="{CBF687A7-6CE6-2B8F-3C30-6B4C88344C2B}"/>
              </a:ext>
            </a:extLst>
          </p:cNvPr>
          <p:cNvSpPr txBox="1"/>
          <p:nvPr/>
        </p:nvSpPr>
        <p:spPr>
          <a:xfrm>
            <a:off x="1733410" y="139638"/>
            <a:ext cx="8467046" cy="618752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rgbClr val="FF0000"/>
                </a:solidFill>
                <a:latin typeface="Times New Roman"/>
                <a:cs typeface="Times New Roman"/>
              </a:rPr>
              <a:t>Title</a:t>
            </a:r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algn="ctr"/>
            <a:endParaRPr lang="en-US" sz="3800" b="1">
              <a:latin typeface="+mn-lt"/>
            </a:endParaRPr>
          </a:p>
          <a:p>
            <a:pPr algn="ctr"/>
            <a:endParaRPr lang="en-US" sz="3800" b="1">
              <a:latin typeface="+mn-lt"/>
              <a:ea typeface="Calibri"/>
              <a:cs typeface="Calibri"/>
            </a:endParaRPr>
          </a:p>
        </p:txBody>
      </p:sp>
      <p:sp>
        <p:nvSpPr>
          <p:cNvPr id="1048594" name="Footer Placeholder 3">
            <a:extLst>
              <a:ext uri="{FF2B5EF4-FFF2-40B4-BE49-F238E27FC236}">
                <a16:creationId xmlns:a16="http://schemas.microsoft.com/office/drawing/2014/main" id="{EF483FCB-B940-522F-CA94-25B6AF7F2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ea typeface="Calibri"/>
                <a:cs typeface="Calibri"/>
              </a:rPr>
              <a:t>2</a:t>
            </a:r>
            <a:endParaRPr lang="en-IN" dirty="0">
              <a:ea typeface="Calibri"/>
              <a:cs typeface="Calibri"/>
            </a:endParaRPr>
          </a:p>
        </p:txBody>
      </p:sp>
      <p:sp>
        <p:nvSpPr>
          <p:cNvPr id="1048660" name="TextBox 1048659">
            <a:extLst>
              <a:ext uri="{FF2B5EF4-FFF2-40B4-BE49-F238E27FC236}">
                <a16:creationId xmlns:a16="http://schemas.microsoft.com/office/drawing/2014/main" id="{DEF611ED-7AB3-7CD8-2EC9-40A8CA8AAB08}"/>
              </a:ext>
            </a:extLst>
          </p:cNvPr>
          <p:cNvSpPr txBox="1"/>
          <p:nvPr/>
        </p:nvSpPr>
        <p:spPr>
          <a:xfrm>
            <a:off x="4165600" y="14002278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09F6A-380D-C686-2137-327FF94218C3}"/>
              </a:ext>
            </a:extLst>
          </p:cNvPr>
          <p:cNvSpPr txBox="1"/>
          <p:nvPr/>
        </p:nvSpPr>
        <p:spPr>
          <a:xfrm>
            <a:off x="2126344" y="2558143"/>
            <a:ext cx="822234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latin typeface="Times New Roman"/>
                <a:cs typeface="Times New Roman"/>
              </a:rPr>
              <a:t>Adaptive Memory Lifecycle Management for Long-Running Agentic AI Systems</a:t>
            </a:r>
            <a:endParaRPr lang="en-US" sz="3200">
              <a:latin typeface="Times New Roman"/>
              <a:ea typeface="Calibri"/>
              <a:cs typeface="Times New Roman"/>
            </a:endParaRPr>
          </a:p>
          <a:p>
            <a:pPr algn="ctr"/>
            <a:endParaRPr lang="en-US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09346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3"/>
    </mc:Choice>
    <mc:Fallback xmlns="">
      <p:transition spd="slow" advTm="342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826E7-BA44-D13E-F94E-2333B3DD6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91" name="Process 4">
            <a:extLst>
              <a:ext uri="{FF2B5EF4-FFF2-40B4-BE49-F238E27FC236}">
                <a16:creationId xmlns:a16="http://schemas.microsoft.com/office/drawing/2014/main" id="{74B5346C-7B84-F15B-A86B-DE791AFD0A71}"/>
              </a:ext>
            </a:extLst>
          </p:cNvPr>
          <p:cNvSpPr/>
          <p:nvPr/>
        </p:nvSpPr>
        <p:spPr>
          <a:xfrm>
            <a:off x="21491" y="0"/>
            <a:ext cx="12192000" cy="705549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Introduction </a:t>
            </a:r>
          </a:p>
          <a:p>
            <a:pPr algn="ctr"/>
            <a:r>
              <a:rPr lang="en-US"/>
              <a:t>Methodology with flow diagram </a:t>
            </a:r>
          </a:p>
          <a:p>
            <a:pPr algn="ctr"/>
            <a:r>
              <a:rPr lang="en-US"/>
              <a:t>Complete implementation </a:t>
            </a:r>
          </a:p>
          <a:p>
            <a:pPr algn="ctr"/>
            <a:r>
              <a:rPr lang="en-US"/>
              <a:t>Research Paper 1 status- Certificate </a:t>
            </a:r>
          </a:p>
          <a:p>
            <a:pPr algn="ctr"/>
            <a:r>
              <a:rPr lang="en-US"/>
              <a:t>Research Paper 2 Status - Acceptance </a:t>
            </a:r>
          </a:p>
          <a:p>
            <a:pPr algn="ctr"/>
            <a:r>
              <a:rPr lang="en-US"/>
              <a:t>Reference</a:t>
            </a:r>
          </a:p>
        </p:txBody>
      </p:sp>
      <p:pic>
        <p:nvPicPr>
          <p:cNvPr id="2097153" name="Picture 2" descr="ABESEC OLA">
            <a:extLst>
              <a:ext uri="{FF2B5EF4-FFF2-40B4-BE49-F238E27FC236}">
                <a16:creationId xmlns:a16="http://schemas.microsoft.com/office/drawing/2014/main" id="{66A9D130-609E-EC62-05CA-547AE1591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2" name="Title 1">
            <a:extLst>
              <a:ext uri="{FF2B5EF4-FFF2-40B4-BE49-F238E27FC236}">
                <a16:creationId xmlns:a16="http://schemas.microsoft.com/office/drawing/2014/main" id="{53D4163D-B3AB-3735-D733-3C2CD347EECD}"/>
              </a:ext>
            </a:extLst>
          </p:cNvPr>
          <p:cNvSpPr txBox="1"/>
          <p:nvPr/>
        </p:nvSpPr>
        <p:spPr>
          <a:xfrm>
            <a:off x="1733410" y="139638"/>
            <a:ext cx="8467046" cy="618752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rgbClr val="FF0000"/>
                </a:solidFill>
                <a:latin typeface="Times New Roman"/>
                <a:cs typeface="Times New Roman"/>
              </a:rPr>
              <a:t>Problem Statement</a:t>
            </a:r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algn="ctr"/>
            <a:endParaRPr lang="en-US" sz="3800" b="1">
              <a:latin typeface="+mn-lt"/>
            </a:endParaRPr>
          </a:p>
          <a:p>
            <a:pPr algn="ctr"/>
            <a:endParaRPr lang="en-US" sz="3800" b="1">
              <a:latin typeface="+mn-lt"/>
              <a:ea typeface="Calibri"/>
              <a:cs typeface="Calibri"/>
            </a:endParaRPr>
          </a:p>
        </p:txBody>
      </p:sp>
      <p:sp>
        <p:nvSpPr>
          <p:cNvPr id="1048594" name="Footer Placeholder 3">
            <a:extLst>
              <a:ext uri="{FF2B5EF4-FFF2-40B4-BE49-F238E27FC236}">
                <a16:creationId xmlns:a16="http://schemas.microsoft.com/office/drawing/2014/main" id="{49F1D48B-26F0-9188-E2E6-FDA2A29B4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3</a:t>
            </a:r>
          </a:p>
        </p:txBody>
      </p:sp>
      <p:sp>
        <p:nvSpPr>
          <p:cNvPr id="1048660" name="TextBox 1048659">
            <a:extLst>
              <a:ext uri="{FF2B5EF4-FFF2-40B4-BE49-F238E27FC236}">
                <a16:creationId xmlns:a16="http://schemas.microsoft.com/office/drawing/2014/main" id="{1BBC68A0-8FA8-76FA-CD49-F6CC09628A26}"/>
              </a:ext>
            </a:extLst>
          </p:cNvPr>
          <p:cNvSpPr txBox="1"/>
          <p:nvPr/>
        </p:nvSpPr>
        <p:spPr>
          <a:xfrm>
            <a:off x="4165600" y="14002278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FC3711-9F7F-D7AB-17AF-D0D854D3B647}"/>
              </a:ext>
            </a:extLst>
          </p:cNvPr>
          <p:cNvSpPr txBox="1"/>
          <p:nvPr/>
        </p:nvSpPr>
        <p:spPr>
          <a:xfrm>
            <a:off x="420916" y="1302658"/>
            <a:ext cx="11480798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ea typeface="+mn-lt"/>
                <a:cs typeface="Times New Roman"/>
              </a:rPr>
              <a:t>Existing Agentic AI systems cannot efficiently manage long-term memory, making them less accurate, slower, and harder to scale over time.</a:t>
            </a:r>
          </a:p>
          <a:p>
            <a:endParaRPr lang="en-US" sz="2000" b="1" dirty="0">
              <a:latin typeface="Times New Roman"/>
              <a:ea typeface="Calibri"/>
              <a:cs typeface="Times New Roman"/>
            </a:endParaRPr>
          </a:p>
          <a:p>
            <a:r>
              <a:rPr lang="en-US" sz="2200" b="1">
                <a:latin typeface="Times New Roman"/>
                <a:cs typeface="Times New Roman"/>
              </a:rPr>
              <a:t>Key Challenges</a:t>
            </a:r>
            <a:endParaRPr lang="en-US" sz="220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Limited Context: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Cannot remember all past interactions. 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Static Memory: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Stores everything without proper organization. 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Poor Retrieval: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May fetch irrelevant memories. 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Duplicate Data: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Similar memories are stored repeatedly. 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No Prioritization: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Important and unimportant memories are treated the same. 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No Intelligent Forgetting: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Outdated memories are never removed. 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No Compression: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Repetitive information is not summarized. 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Low Memory Quality: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No check for accuracy or usefulness. 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Scalability Issues: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Larger memory increases cost and response time. 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Limited Adaptability: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Memory does not improve from user feedback or experience.</a:t>
            </a:r>
          </a:p>
          <a:p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681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3"/>
    </mc:Choice>
    <mc:Fallback xmlns="">
      <p:transition spd="slow" advTm="342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71D09-BAC5-EF07-82E8-EF2F29CD4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91" name="Process 4">
            <a:extLst>
              <a:ext uri="{FF2B5EF4-FFF2-40B4-BE49-F238E27FC236}">
                <a16:creationId xmlns:a16="http://schemas.microsoft.com/office/drawing/2014/main" id="{91273EDB-452D-4059-7378-DADD6A28DBE3}"/>
              </a:ext>
            </a:extLst>
          </p:cNvPr>
          <p:cNvSpPr/>
          <p:nvPr/>
        </p:nvSpPr>
        <p:spPr>
          <a:xfrm>
            <a:off x="-281" y="-101600"/>
            <a:ext cx="12192000" cy="705549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Introduction </a:t>
            </a:r>
          </a:p>
          <a:p>
            <a:pPr algn="ctr"/>
            <a:r>
              <a:rPr lang="en-US"/>
              <a:t>Methodology with flow diagram </a:t>
            </a:r>
          </a:p>
          <a:p>
            <a:pPr algn="ctr"/>
            <a:r>
              <a:rPr lang="en-US"/>
              <a:t>Complete implementation </a:t>
            </a:r>
          </a:p>
          <a:p>
            <a:pPr algn="ctr"/>
            <a:r>
              <a:rPr lang="en-US"/>
              <a:t>Research Paper 1 status- Certificate </a:t>
            </a:r>
          </a:p>
          <a:p>
            <a:pPr algn="ctr"/>
            <a:r>
              <a:rPr lang="en-US"/>
              <a:t>Research Paper 2 Status - Acceptance </a:t>
            </a:r>
          </a:p>
          <a:p>
            <a:pPr algn="ctr"/>
            <a:r>
              <a:rPr lang="en-US"/>
              <a:t>Reference</a:t>
            </a:r>
          </a:p>
        </p:txBody>
      </p:sp>
      <p:pic>
        <p:nvPicPr>
          <p:cNvPr id="2097153" name="Picture 2" descr="ABESEC OLA">
            <a:extLst>
              <a:ext uri="{FF2B5EF4-FFF2-40B4-BE49-F238E27FC236}">
                <a16:creationId xmlns:a16="http://schemas.microsoft.com/office/drawing/2014/main" id="{1F53DE9A-27A7-0074-62EE-923C46B61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2" name="Title 1">
            <a:extLst>
              <a:ext uri="{FF2B5EF4-FFF2-40B4-BE49-F238E27FC236}">
                <a16:creationId xmlns:a16="http://schemas.microsoft.com/office/drawing/2014/main" id="{A913C688-FD08-F602-7A9C-617C6B12CDE8}"/>
              </a:ext>
            </a:extLst>
          </p:cNvPr>
          <p:cNvSpPr txBox="1"/>
          <p:nvPr/>
        </p:nvSpPr>
        <p:spPr>
          <a:xfrm>
            <a:off x="1733410" y="139638"/>
            <a:ext cx="8467046" cy="618752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rgbClr val="FF0000"/>
                </a:solidFill>
                <a:latin typeface="Times New Roman"/>
                <a:cs typeface="Times New Roman"/>
              </a:rPr>
              <a:t>Proposed Topic</a:t>
            </a:r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algn="ctr"/>
            <a:endParaRPr lang="en-US" sz="3800" b="1">
              <a:latin typeface="+mn-lt"/>
            </a:endParaRPr>
          </a:p>
          <a:p>
            <a:pPr algn="ctr"/>
            <a:endParaRPr lang="en-US" sz="3800" b="1">
              <a:latin typeface="+mn-lt"/>
              <a:ea typeface="Calibri"/>
              <a:cs typeface="Calibri"/>
            </a:endParaRPr>
          </a:p>
        </p:txBody>
      </p:sp>
      <p:sp>
        <p:nvSpPr>
          <p:cNvPr id="1048594" name="Footer Placeholder 3">
            <a:extLst>
              <a:ext uri="{FF2B5EF4-FFF2-40B4-BE49-F238E27FC236}">
                <a16:creationId xmlns:a16="http://schemas.microsoft.com/office/drawing/2014/main" id="{C30CD426-95F8-12CD-80A4-67EE630F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4</a:t>
            </a:r>
            <a:endParaRPr lang="en-IN">
              <a:ea typeface="Calibri"/>
              <a:cs typeface="Calibri"/>
            </a:endParaRPr>
          </a:p>
        </p:txBody>
      </p:sp>
      <p:sp>
        <p:nvSpPr>
          <p:cNvPr id="1048660" name="TextBox 1048659">
            <a:extLst>
              <a:ext uri="{FF2B5EF4-FFF2-40B4-BE49-F238E27FC236}">
                <a16:creationId xmlns:a16="http://schemas.microsoft.com/office/drawing/2014/main" id="{89057A34-228A-7957-149B-017EF29CF6A6}"/>
              </a:ext>
            </a:extLst>
          </p:cNvPr>
          <p:cNvSpPr txBox="1"/>
          <p:nvPr/>
        </p:nvSpPr>
        <p:spPr>
          <a:xfrm>
            <a:off x="4165600" y="14002278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7525C-2030-2FCD-F878-97CAC8168A8D}"/>
              </a:ext>
            </a:extLst>
          </p:cNvPr>
          <p:cNvSpPr txBox="1"/>
          <p:nvPr/>
        </p:nvSpPr>
        <p:spPr>
          <a:xfrm>
            <a:off x="849087" y="867228"/>
            <a:ext cx="11480798" cy="56630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latin typeface="Times New Roman"/>
                <a:cs typeface="Times New Roman"/>
              </a:rPr>
              <a:t>Adaptive Memory Lifecycle Management for Long-Running Agentic AI Systems</a:t>
            </a:r>
            <a:endParaRPr lang="en-US" sz="2200" b="1">
              <a:latin typeface="Times New Roman"/>
              <a:ea typeface="Calibri"/>
              <a:cs typeface="Times New Roman"/>
            </a:endParaRPr>
          </a:p>
          <a:p>
            <a:endParaRPr lang="en-US" sz="2000" b="1" dirty="0">
              <a:latin typeface="Times New Roman"/>
              <a:ea typeface="Calibri"/>
              <a:cs typeface="Times New Roman"/>
            </a:endParaRPr>
          </a:p>
          <a:p>
            <a:r>
              <a:rPr lang="en-US" sz="2200" b="1">
                <a:latin typeface="Times New Roman"/>
                <a:cs typeface="Times New Roman"/>
              </a:rPr>
              <a:t>Objective</a:t>
            </a:r>
            <a:endParaRPr lang="en-US" sz="2200">
              <a:latin typeface="Times New Roman"/>
              <a:ea typeface="Calibri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Develop an </a:t>
            </a:r>
            <a:r>
              <a:rPr lang="en-US" b="1">
                <a:latin typeface="Times New Roman"/>
                <a:ea typeface="+mn-lt"/>
                <a:cs typeface="Times New Roman"/>
              </a:rPr>
              <a:t>adaptive memory framework</a:t>
            </a:r>
            <a:r>
              <a:rPr lang="en-US">
                <a:latin typeface="Times New Roman"/>
                <a:ea typeface="+mn-lt"/>
                <a:cs typeface="Times New Roman"/>
              </a:rPr>
              <a:t> that </a:t>
            </a:r>
            <a:r>
              <a:rPr lang="en-US" b="1">
                <a:latin typeface="Times New Roman"/>
                <a:ea typeface="+mn-lt"/>
                <a:cs typeface="Times New Roman"/>
              </a:rPr>
              <a:t>stores, retrieves, prioritizes, compresses, and forgets</a:t>
            </a:r>
            <a:r>
              <a:rPr lang="en-US">
                <a:latin typeface="Times New Roman"/>
                <a:ea typeface="+mn-lt"/>
                <a:cs typeface="Times New Roman"/>
              </a:rPr>
              <a:t> information to improve long-term AI performance.</a:t>
            </a:r>
          </a:p>
          <a:p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r>
              <a:rPr lang="en-US" sz="2200" b="1">
                <a:latin typeface="Times New Roman"/>
                <a:cs typeface="Times New Roman"/>
              </a:rPr>
              <a:t>Key Features</a:t>
            </a:r>
            <a:endParaRPr lang="en-US" sz="220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Smart Storage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Save only useful memories. 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Memory Validation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Keep accurate and reliable information. 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Priority Ranking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Rank memories by importance and recency. 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Context Retrieval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Fetch only task-relevant memories. 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Memory Compression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Merge repetitive information. 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Intelligent Forgetting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Remove outdated memories. 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Adaptive Learning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Improve memory using feedback. 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Times New Roman"/>
              <a:cs typeface="Times New Roman"/>
            </a:endParaRPr>
          </a:p>
          <a:p>
            <a:r>
              <a:rPr lang="en-US" sz="2200" b="1">
                <a:latin typeface="Times New Roman"/>
                <a:cs typeface="Times New Roman"/>
              </a:rPr>
              <a:t>Expected Outcome</a:t>
            </a:r>
            <a:endParaRPr lang="en-US" sz="2200">
              <a:latin typeface="Times New Roman"/>
              <a:ea typeface="Calibri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Build a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scalable, efficient, and reliable memory framework</a:t>
            </a:r>
            <a:r>
              <a:rPr lang="en-US" sz="2000">
                <a:latin typeface="Times New Roman"/>
                <a:ea typeface="+mn-lt"/>
                <a:cs typeface="Times New Roman"/>
              </a:rPr>
              <a:t> that improves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accuracy, reasoning, personalization, and response speed</a:t>
            </a:r>
            <a:r>
              <a:rPr lang="en-US" sz="2000">
                <a:latin typeface="Times New Roman"/>
                <a:ea typeface="+mn-lt"/>
                <a:cs typeface="Times New Roman"/>
              </a:rPr>
              <a:t> in long-running AI agents.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841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3"/>
    </mc:Choice>
    <mc:Fallback xmlns="">
      <p:transition spd="slow" advTm="342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1FDE5-D4FE-E601-5E4E-4789CEA71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91" name="Process 4">
            <a:extLst>
              <a:ext uri="{FF2B5EF4-FFF2-40B4-BE49-F238E27FC236}">
                <a16:creationId xmlns:a16="http://schemas.microsoft.com/office/drawing/2014/main" id="{0AB7F848-3573-24AB-2FA7-18AE574BF589}"/>
              </a:ext>
            </a:extLst>
          </p:cNvPr>
          <p:cNvSpPr/>
          <p:nvPr/>
        </p:nvSpPr>
        <p:spPr>
          <a:xfrm>
            <a:off x="21491" y="-36286"/>
            <a:ext cx="12192000" cy="705549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Introduction </a:t>
            </a:r>
          </a:p>
          <a:p>
            <a:pPr algn="ctr"/>
            <a:r>
              <a:rPr lang="en-US"/>
              <a:t>Methodology with flow diagram </a:t>
            </a:r>
          </a:p>
          <a:p>
            <a:pPr algn="ctr"/>
            <a:r>
              <a:rPr lang="en-US"/>
              <a:t>Complete implementation </a:t>
            </a:r>
          </a:p>
          <a:p>
            <a:pPr algn="ctr"/>
            <a:r>
              <a:rPr lang="en-US"/>
              <a:t>Research Paper 1 status- Certificate </a:t>
            </a:r>
          </a:p>
          <a:p>
            <a:pPr algn="ctr"/>
            <a:r>
              <a:rPr lang="en-US"/>
              <a:t>Research Paper 2 Status - Acceptance </a:t>
            </a:r>
          </a:p>
          <a:p>
            <a:pPr algn="ctr"/>
            <a:r>
              <a:rPr lang="en-US"/>
              <a:t>Reference</a:t>
            </a:r>
          </a:p>
        </p:txBody>
      </p:sp>
      <p:pic>
        <p:nvPicPr>
          <p:cNvPr id="2097153" name="Picture 2" descr="ABESEC OLA">
            <a:extLst>
              <a:ext uri="{FF2B5EF4-FFF2-40B4-BE49-F238E27FC236}">
                <a16:creationId xmlns:a16="http://schemas.microsoft.com/office/drawing/2014/main" id="{160D7D71-EDA0-4EB3-82FA-E65F04675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2" name="Title 1">
            <a:extLst>
              <a:ext uri="{FF2B5EF4-FFF2-40B4-BE49-F238E27FC236}">
                <a16:creationId xmlns:a16="http://schemas.microsoft.com/office/drawing/2014/main" id="{671D3CBF-3F0A-230D-2433-ACE980808B16}"/>
              </a:ext>
            </a:extLst>
          </p:cNvPr>
          <p:cNvSpPr txBox="1"/>
          <p:nvPr/>
        </p:nvSpPr>
        <p:spPr>
          <a:xfrm>
            <a:off x="1733410" y="139638"/>
            <a:ext cx="8467046" cy="618752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Why This Topic?</a:t>
            </a:r>
          </a:p>
        </p:txBody>
      </p:sp>
      <p:sp>
        <p:nvSpPr>
          <p:cNvPr id="1048594" name="Footer Placeholder 3">
            <a:extLst>
              <a:ext uri="{FF2B5EF4-FFF2-40B4-BE49-F238E27FC236}">
                <a16:creationId xmlns:a16="http://schemas.microsoft.com/office/drawing/2014/main" id="{D1666C13-9CEC-084D-6FB2-972060633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5</a:t>
            </a:r>
            <a:endParaRPr lang="en-IN">
              <a:ea typeface="Calibri"/>
              <a:cs typeface="Calibri"/>
            </a:endParaRPr>
          </a:p>
        </p:txBody>
      </p:sp>
      <p:sp>
        <p:nvSpPr>
          <p:cNvPr id="1048660" name="TextBox 1048659">
            <a:extLst>
              <a:ext uri="{FF2B5EF4-FFF2-40B4-BE49-F238E27FC236}">
                <a16:creationId xmlns:a16="http://schemas.microsoft.com/office/drawing/2014/main" id="{FA80BDBF-664E-D685-154A-063CFF321618}"/>
              </a:ext>
            </a:extLst>
          </p:cNvPr>
          <p:cNvSpPr txBox="1"/>
          <p:nvPr/>
        </p:nvSpPr>
        <p:spPr>
          <a:xfrm>
            <a:off x="4165600" y="14002278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C3D37B-37C9-C7DE-C443-7153C847D8F5}"/>
              </a:ext>
            </a:extLst>
          </p:cNvPr>
          <p:cNvSpPr txBox="1"/>
          <p:nvPr/>
        </p:nvSpPr>
        <p:spPr>
          <a:xfrm>
            <a:off x="420916" y="1128485"/>
            <a:ext cx="11480798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As Agentic AI systems become more autonomous, </a:t>
            </a:r>
            <a:r>
              <a:rPr lang="en-US" sz="2000" b="1">
                <a:latin typeface="Times New Roman"/>
                <a:cs typeface="Times New Roman"/>
              </a:rPr>
              <a:t>efficient memory management</a:t>
            </a:r>
            <a:r>
              <a:rPr lang="en-US" sz="2000">
                <a:latin typeface="Times New Roman"/>
                <a:cs typeface="Times New Roman"/>
              </a:rPr>
              <a:t> is essential for building reliable and scalable AI agents.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r>
              <a:rPr lang="en-US" sz="2200" b="1">
                <a:latin typeface="Times New Roman"/>
                <a:cs typeface="Times New Roman"/>
              </a:rPr>
              <a:t>Why This Research Matters</a:t>
            </a:r>
            <a:endParaRPr lang="en-US" sz="2200" b="1">
              <a:latin typeface="Times New Roman"/>
              <a:ea typeface="Calibri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2000" b="1">
                <a:latin typeface="Times New Roman"/>
                <a:cs typeface="Times New Roman"/>
              </a:rPr>
              <a:t>Growing Adoption</a:t>
            </a:r>
            <a:r>
              <a:rPr lang="en-US" sz="2000">
                <a:latin typeface="Times New Roman"/>
                <a:cs typeface="Times New Roman"/>
              </a:rPr>
              <a:t> – Long-running AI agents are becoming common. 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2000" b="1">
                <a:latin typeface="Times New Roman"/>
                <a:cs typeface="Times New Roman"/>
              </a:rPr>
              <a:t>Limited Context</a:t>
            </a:r>
            <a:r>
              <a:rPr lang="en-US" sz="2000">
                <a:latin typeface="Times New Roman"/>
                <a:cs typeface="Times New Roman"/>
              </a:rPr>
              <a:t> – LLMs cannot remember everything. 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2000" b="1">
                <a:latin typeface="Times New Roman"/>
                <a:cs typeface="Times New Roman"/>
              </a:rPr>
              <a:t>Memory Bloat</a:t>
            </a:r>
            <a:r>
              <a:rPr lang="en-US" sz="2000">
                <a:latin typeface="Times New Roman"/>
                <a:cs typeface="Times New Roman"/>
              </a:rPr>
              <a:t> – Continuous storage reduces efficiency. 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2000" b="1">
                <a:latin typeface="Times New Roman"/>
                <a:cs typeface="Times New Roman"/>
              </a:rPr>
              <a:t>Poor Retrieval</a:t>
            </a:r>
            <a:r>
              <a:rPr lang="en-US" sz="2000">
                <a:latin typeface="Times New Roman"/>
                <a:cs typeface="Times New Roman"/>
              </a:rPr>
              <a:t> – Irrelevant memories affect responses. 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2000" b="1">
                <a:latin typeface="Times New Roman"/>
                <a:cs typeface="Times New Roman"/>
              </a:rPr>
              <a:t>No Intelligent Forgetting</a:t>
            </a:r>
            <a:r>
              <a:rPr lang="en-US" sz="2000">
                <a:latin typeface="Times New Roman"/>
                <a:cs typeface="Times New Roman"/>
              </a:rPr>
              <a:t> – Outdated memories remain stored. 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2000" b="1">
                <a:latin typeface="Times New Roman"/>
                <a:cs typeface="Times New Roman"/>
              </a:rPr>
              <a:t>Scalability Issues</a:t>
            </a:r>
            <a:r>
              <a:rPr lang="en-US" sz="2000">
                <a:latin typeface="Times New Roman"/>
                <a:cs typeface="Times New Roman"/>
              </a:rPr>
              <a:t> – More memory increases cost and latency. 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2000" b="1">
                <a:latin typeface="Times New Roman"/>
                <a:cs typeface="Times New Roman"/>
              </a:rPr>
              <a:t>Research Gap</a:t>
            </a:r>
            <a:r>
              <a:rPr lang="en-US" sz="2000">
                <a:latin typeface="Times New Roman"/>
                <a:cs typeface="Times New Roman"/>
              </a:rPr>
              <a:t> – Adaptive memory lifecycle is still underexplored. 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2000" b="1">
                <a:latin typeface="Times New Roman"/>
                <a:cs typeface="Times New Roman"/>
              </a:rPr>
              <a:t>Real-World Impact</a:t>
            </a:r>
            <a:r>
              <a:rPr lang="en-US" sz="2000">
                <a:latin typeface="Times New Roman"/>
                <a:cs typeface="Times New Roman"/>
              </a:rPr>
              <a:t> – Improves accuracy, reasoning, and personalization.</a:t>
            </a:r>
            <a:endParaRPr lang="en-US" sz="200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2686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3"/>
    </mc:Choice>
    <mc:Fallback xmlns="">
      <p:transition spd="slow" advTm="342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04658-8CA9-3A83-78F4-A24BC480F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91" name="Process 4">
            <a:extLst>
              <a:ext uri="{FF2B5EF4-FFF2-40B4-BE49-F238E27FC236}">
                <a16:creationId xmlns:a16="http://schemas.microsoft.com/office/drawing/2014/main" id="{B7EB540C-1F1C-66AE-9BD3-7E6E568EE7FD}"/>
              </a:ext>
            </a:extLst>
          </p:cNvPr>
          <p:cNvSpPr/>
          <p:nvPr/>
        </p:nvSpPr>
        <p:spPr>
          <a:xfrm>
            <a:off x="-280" y="72571"/>
            <a:ext cx="12192000" cy="705549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Introduction </a:t>
            </a:r>
          </a:p>
          <a:p>
            <a:pPr algn="ctr"/>
            <a:r>
              <a:rPr lang="en-US"/>
              <a:t>Methodology with flow diagram </a:t>
            </a:r>
          </a:p>
          <a:p>
            <a:pPr algn="ctr"/>
            <a:r>
              <a:rPr lang="en-US"/>
              <a:t>Complete implementation </a:t>
            </a:r>
          </a:p>
          <a:p>
            <a:pPr algn="ctr"/>
            <a:r>
              <a:rPr lang="en-US"/>
              <a:t>Research Paper 1 status- Certificate </a:t>
            </a:r>
          </a:p>
          <a:p>
            <a:pPr algn="ctr"/>
            <a:r>
              <a:rPr lang="en-US"/>
              <a:t>Research Paper 2 Status - Acceptance </a:t>
            </a:r>
          </a:p>
          <a:p>
            <a:pPr algn="ctr"/>
            <a:r>
              <a:rPr lang="en-US"/>
              <a:t>Reference</a:t>
            </a:r>
          </a:p>
        </p:txBody>
      </p:sp>
      <p:pic>
        <p:nvPicPr>
          <p:cNvPr id="2097153" name="Picture 2" descr="ABESEC OLA">
            <a:extLst>
              <a:ext uri="{FF2B5EF4-FFF2-40B4-BE49-F238E27FC236}">
                <a16:creationId xmlns:a16="http://schemas.microsoft.com/office/drawing/2014/main" id="{87BAA54F-3968-654F-6FED-DCAF7C002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2" name="Title 1">
            <a:extLst>
              <a:ext uri="{FF2B5EF4-FFF2-40B4-BE49-F238E27FC236}">
                <a16:creationId xmlns:a16="http://schemas.microsoft.com/office/drawing/2014/main" id="{AB3A77C3-69CC-AFA0-285F-F2F908236769}"/>
              </a:ext>
            </a:extLst>
          </p:cNvPr>
          <p:cNvSpPr txBox="1"/>
          <p:nvPr/>
        </p:nvSpPr>
        <p:spPr>
          <a:xfrm>
            <a:off x="2147067" y="197695"/>
            <a:ext cx="8467046" cy="618752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Literature Review / Existing </a:t>
            </a:r>
            <a:r>
              <a:rPr lang="en-US" err="1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Wor</a:t>
            </a:r>
            <a:r>
              <a:rPr lang="en-US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k</a:t>
            </a:r>
          </a:p>
        </p:txBody>
      </p:sp>
      <p:sp>
        <p:nvSpPr>
          <p:cNvPr id="1048594" name="Footer Placeholder 3">
            <a:extLst>
              <a:ext uri="{FF2B5EF4-FFF2-40B4-BE49-F238E27FC236}">
                <a16:creationId xmlns:a16="http://schemas.microsoft.com/office/drawing/2014/main" id="{6D036038-DB52-827C-5A85-35C1174F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ea typeface="Calibri"/>
                <a:cs typeface="Calibri"/>
              </a:rPr>
              <a:t>6</a:t>
            </a:r>
            <a:endParaRPr lang="en-IN" dirty="0">
              <a:ea typeface="Calibri"/>
              <a:cs typeface="Calibri"/>
            </a:endParaRPr>
          </a:p>
        </p:txBody>
      </p:sp>
      <p:sp>
        <p:nvSpPr>
          <p:cNvPr id="1048660" name="TextBox 1048659">
            <a:extLst>
              <a:ext uri="{FF2B5EF4-FFF2-40B4-BE49-F238E27FC236}">
                <a16:creationId xmlns:a16="http://schemas.microsoft.com/office/drawing/2014/main" id="{B740A66D-E754-968E-49E7-F53AD46DA397}"/>
              </a:ext>
            </a:extLst>
          </p:cNvPr>
          <p:cNvSpPr txBox="1"/>
          <p:nvPr/>
        </p:nvSpPr>
        <p:spPr>
          <a:xfrm>
            <a:off x="4165600" y="14002278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D95704-7E47-5694-1212-570383D24B01}"/>
              </a:ext>
            </a:extLst>
          </p:cNvPr>
          <p:cNvSpPr txBox="1"/>
          <p:nvPr/>
        </p:nvSpPr>
        <p:spPr>
          <a:xfrm>
            <a:off x="232230" y="5156199"/>
            <a:ext cx="11734798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latin typeface="Times New Roman"/>
                <a:ea typeface="+mn-lt"/>
                <a:cs typeface="Times New Roman"/>
              </a:rPr>
              <a:t>Research Gap:-</a:t>
            </a:r>
            <a:br>
              <a:rPr lang="en-US" sz="2200" b="1" dirty="0">
                <a:latin typeface="Times New Roman"/>
                <a:ea typeface="+mn-lt"/>
                <a:cs typeface="Times New Roman"/>
              </a:rPr>
            </a:br>
            <a:r>
              <a:rPr lang="en-US">
                <a:latin typeface="Times New Roman"/>
                <a:ea typeface="+mn-lt"/>
                <a:cs typeface="Times New Roman"/>
              </a:rPr>
              <a:t>Existing research emphasizes memory storage and retrieval, whereas adaptive memory lifecycle management—including validation, prioritization, compression, reflection, archival, and intelligent forgetting—remains largely unexplored.</a:t>
            </a:r>
            <a:endParaRPr lang="en-US" b="1">
              <a:latin typeface="Times New Roman"/>
              <a:ea typeface="+mn-lt"/>
              <a:cs typeface="Times New Roman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5FF26A-1810-CA68-8A6F-CF0B0D9C9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815442"/>
              </p:ext>
            </p:extLst>
          </p:nvPr>
        </p:nvGraphicFramePr>
        <p:xfrm>
          <a:off x="232228" y="1085669"/>
          <a:ext cx="11734797" cy="3931920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3911599">
                  <a:extLst>
                    <a:ext uri="{9D8B030D-6E8A-4147-A177-3AD203B41FA5}">
                      <a16:colId xmlns:a16="http://schemas.microsoft.com/office/drawing/2014/main" val="3463032745"/>
                    </a:ext>
                  </a:extLst>
                </a:gridCol>
                <a:gridCol w="3911599">
                  <a:extLst>
                    <a:ext uri="{9D8B030D-6E8A-4147-A177-3AD203B41FA5}">
                      <a16:colId xmlns:a16="http://schemas.microsoft.com/office/drawing/2014/main" val="3363651185"/>
                    </a:ext>
                  </a:extLst>
                </a:gridCol>
                <a:gridCol w="3911599">
                  <a:extLst>
                    <a:ext uri="{9D8B030D-6E8A-4147-A177-3AD203B41FA5}">
                      <a16:colId xmlns:a16="http://schemas.microsoft.com/office/drawing/2014/main" val="3753603084"/>
                    </a:ext>
                  </a:extLst>
                </a:gridCol>
              </a:tblGrid>
              <a:tr h="342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Key 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8284305"/>
                  </a:ext>
                </a:extLst>
              </a:tr>
              <a:tr h="342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Times New Roman"/>
                          <a:cs typeface="Times New Roman"/>
                        </a:rPr>
                        <a:t>MemGPT</a:t>
                      </a:r>
                      <a:r>
                        <a:rPr lang="en-US" dirty="0">
                          <a:latin typeface="Times New Roman"/>
                          <a:cs typeface="Times New Roman"/>
                        </a:rPr>
                        <a:t> (Packer et al., 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Introduced external memory for LLMs.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No adaptive memory lifecycle.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604367"/>
                  </a:ext>
                </a:extLst>
              </a:tr>
              <a:tr h="594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Survey of LLM Memory (Zhang et al., 2025)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Reviewed existing memory techniques.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No implementation framework.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51544"/>
                  </a:ext>
                </a:extLst>
              </a:tr>
              <a:tr h="594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Agentic Memory (Yu et al., ACL 2026)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Combined short-term and long-term memory.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No complete lifecycle management.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0979666"/>
                  </a:ext>
                </a:extLst>
              </a:tr>
              <a:tr h="594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Memory for Autonomous Agents (Du, 2026)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Analyzed memory architectures and evaluation.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No practical adaptive solution.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76648"/>
                  </a:ext>
                </a:extLst>
              </a:tr>
              <a:tr h="594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Anatomy of Agentic Memory (Jiang et al., 2026)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Proposed memory taxonomy.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Limited focus on adaptive memory.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651525"/>
                  </a:ext>
                </a:extLst>
              </a:tr>
              <a:tr h="594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From Storage to Experience (Luo et al., 2026)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Explained memory evolution.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Survey only, no working framework.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822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65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3"/>
    </mc:Choice>
    <mc:Fallback xmlns="">
      <p:transition spd="slow" advTm="342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0A740-9F33-20D4-67A6-EE93CD8C6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91" name="Process 4">
            <a:extLst>
              <a:ext uri="{FF2B5EF4-FFF2-40B4-BE49-F238E27FC236}">
                <a16:creationId xmlns:a16="http://schemas.microsoft.com/office/drawing/2014/main" id="{4065752B-9F31-4D98-E9ED-A9BF711AD501}"/>
              </a:ext>
            </a:extLst>
          </p:cNvPr>
          <p:cNvSpPr/>
          <p:nvPr/>
        </p:nvSpPr>
        <p:spPr>
          <a:xfrm>
            <a:off x="72291" y="0"/>
            <a:ext cx="12192000" cy="705549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Introduction </a:t>
            </a:r>
          </a:p>
          <a:p>
            <a:pPr algn="ctr"/>
            <a:r>
              <a:rPr lang="en-US"/>
              <a:t>Methodology with flow diagram </a:t>
            </a:r>
          </a:p>
          <a:p>
            <a:pPr algn="ctr"/>
            <a:r>
              <a:rPr lang="en-US"/>
              <a:t>Complete implementation </a:t>
            </a:r>
          </a:p>
          <a:p>
            <a:pPr algn="ctr"/>
            <a:r>
              <a:rPr lang="en-US"/>
              <a:t>Research Paper 1 status- Certificate </a:t>
            </a:r>
          </a:p>
          <a:p>
            <a:pPr algn="ctr"/>
            <a:r>
              <a:rPr lang="en-US"/>
              <a:t>Research Paper 2 Status - Acceptance </a:t>
            </a:r>
          </a:p>
          <a:p>
            <a:pPr algn="ctr"/>
            <a:r>
              <a:rPr lang="en-US"/>
              <a:t>Reference</a:t>
            </a:r>
          </a:p>
        </p:txBody>
      </p:sp>
      <p:pic>
        <p:nvPicPr>
          <p:cNvPr id="2097153" name="Picture 2" descr="ABESEC OLA">
            <a:extLst>
              <a:ext uri="{FF2B5EF4-FFF2-40B4-BE49-F238E27FC236}">
                <a16:creationId xmlns:a16="http://schemas.microsoft.com/office/drawing/2014/main" id="{1F1DDCDF-8635-E2E5-1A40-7F0126666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2" name="Title 1">
            <a:extLst>
              <a:ext uri="{FF2B5EF4-FFF2-40B4-BE49-F238E27FC236}">
                <a16:creationId xmlns:a16="http://schemas.microsoft.com/office/drawing/2014/main" id="{8BD504A3-EB5A-8DB5-E043-5B2AB1B49773}"/>
              </a:ext>
            </a:extLst>
          </p:cNvPr>
          <p:cNvSpPr txBox="1"/>
          <p:nvPr/>
        </p:nvSpPr>
        <p:spPr>
          <a:xfrm>
            <a:off x="2147067" y="197695"/>
            <a:ext cx="8467046" cy="618752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Proposed Methodology</a:t>
            </a:r>
          </a:p>
        </p:txBody>
      </p:sp>
      <p:sp>
        <p:nvSpPr>
          <p:cNvPr id="1048594" name="Footer Placeholder 3">
            <a:extLst>
              <a:ext uri="{FF2B5EF4-FFF2-40B4-BE49-F238E27FC236}">
                <a16:creationId xmlns:a16="http://schemas.microsoft.com/office/drawing/2014/main" id="{80ADE6E6-D052-76F0-3AD1-0413A0E2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7</a:t>
            </a:r>
            <a:endParaRPr lang="en-IN">
              <a:ea typeface="Calibri"/>
              <a:cs typeface="Calibri"/>
            </a:endParaRPr>
          </a:p>
        </p:txBody>
      </p:sp>
      <p:sp>
        <p:nvSpPr>
          <p:cNvPr id="1048660" name="TextBox 1048659">
            <a:extLst>
              <a:ext uri="{FF2B5EF4-FFF2-40B4-BE49-F238E27FC236}">
                <a16:creationId xmlns:a16="http://schemas.microsoft.com/office/drawing/2014/main" id="{CEB11105-43B2-91AA-C206-6E4B4A984CC7}"/>
              </a:ext>
            </a:extLst>
          </p:cNvPr>
          <p:cNvSpPr txBox="1"/>
          <p:nvPr/>
        </p:nvSpPr>
        <p:spPr>
          <a:xfrm>
            <a:off x="4165600" y="14002278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5F0B99-40EB-0DA1-E415-A629F7ABA525}"/>
              </a:ext>
            </a:extLst>
          </p:cNvPr>
          <p:cNvSpPr txBox="1"/>
          <p:nvPr/>
        </p:nvSpPr>
        <p:spPr>
          <a:xfrm>
            <a:off x="428173" y="1484085"/>
            <a:ext cx="11480798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latin typeface="Times New Roman"/>
                <a:cs typeface="Times New Roman"/>
              </a:rPr>
              <a:t>Workflow</a:t>
            </a:r>
          </a:p>
          <a:p>
            <a:pPr>
              <a:buAutoNum type="arabicPeriod"/>
            </a:pPr>
            <a:r>
              <a:rPr lang="en-US" sz="2000" b="1">
                <a:latin typeface="Times New Roman"/>
                <a:cs typeface="Times New Roman"/>
              </a:rPr>
              <a:t> Memory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 Acquisition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Capture user interactions and task results. </a:t>
            </a:r>
            <a:endParaRPr lang="en-US" sz="2200">
              <a:latin typeface="Times New Roman"/>
              <a:ea typeface="+mn-lt"/>
              <a:cs typeface="Times New Roman"/>
            </a:endParaRPr>
          </a:p>
          <a:p>
            <a:pPr>
              <a:buAutoNum type="arabicPeriod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 Memory Validation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Verify accuracy and remove invalid data. </a:t>
            </a:r>
          </a:p>
          <a:p>
            <a:pPr>
              <a:buAutoNum type="arabicPeriod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 Memory Classification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Categorize into episodic, semantic, and procedural memory. </a:t>
            </a:r>
          </a:p>
          <a:p>
            <a:pPr>
              <a:buAutoNum type="arabicPeriod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 Priority Ranking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Rank memories by importance, recency, and usage. </a:t>
            </a:r>
            <a:endParaRPr lang="en-US" sz="2200">
              <a:latin typeface="Times New Roman"/>
              <a:ea typeface="+mn-lt"/>
              <a:cs typeface="Times New Roman"/>
            </a:endParaRPr>
          </a:p>
          <a:p>
            <a:pPr>
              <a:buAutoNum type="arabicPeriod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 Context Retrieval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Retrieve the most relevant memories for the current task. </a:t>
            </a:r>
            <a:endParaRPr lang="en-US" sz="2200">
              <a:latin typeface="Times New Roman"/>
              <a:ea typeface="+mn-lt"/>
              <a:cs typeface="Times New Roman"/>
            </a:endParaRPr>
          </a:p>
          <a:p>
            <a:pPr>
              <a:buAutoNum type="arabicPeriod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 Memory Compression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Merge and summarize repetitive memories. </a:t>
            </a:r>
          </a:p>
          <a:p>
            <a:pPr>
              <a:buAutoNum type="arabicPeriod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 Adaptive Forgetting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Archive or remove outdated and low-value memories. </a:t>
            </a:r>
          </a:p>
          <a:p>
            <a:pPr>
              <a:buAutoNum type="arabicPeriod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 Continuous Learning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Update memory using user feedback and task outcomes. </a:t>
            </a:r>
          </a:p>
          <a:p>
            <a:pPr>
              <a:buAutoNum type="arabicPeriod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 Performance Evaluation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Measure accuracy, latency, memory usage, and task success.</a:t>
            </a:r>
            <a:endParaRPr lang="en-US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237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3"/>
    </mc:Choice>
    <mc:Fallback xmlns="">
      <p:transition spd="slow" advTm="342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0782E-BD5E-676D-240A-845D2DF8E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91" name="Process 4">
            <a:extLst>
              <a:ext uri="{FF2B5EF4-FFF2-40B4-BE49-F238E27FC236}">
                <a16:creationId xmlns:a16="http://schemas.microsoft.com/office/drawing/2014/main" id="{DEC0ACCE-0272-087A-19E1-54180A7E1F0E}"/>
              </a:ext>
            </a:extLst>
          </p:cNvPr>
          <p:cNvSpPr/>
          <p:nvPr/>
        </p:nvSpPr>
        <p:spPr>
          <a:xfrm>
            <a:off x="-281" y="72571"/>
            <a:ext cx="12192000" cy="705549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Introduction </a:t>
            </a:r>
          </a:p>
          <a:p>
            <a:pPr algn="ctr"/>
            <a:r>
              <a:rPr lang="en-US"/>
              <a:t>Methodology with flow diagram </a:t>
            </a:r>
          </a:p>
          <a:p>
            <a:pPr algn="ctr"/>
            <a:r>
              <a:rPr lang="en-US"/>
              <a:t>Complete implementation </a:t>
            </a:r>
          </a:p>
          <a:p>
            <a:pPr algn="ctr"/>
            <a:r>
              <a:rPr lang="en-US"/>
              <a:t>Research Paper 1 status- Certificate </a:t>
            </a:r>
          </a:p>
          <a:p>
            <a:pPr algn="ctr"/>
            <a:r>
              <a:rPr lang="en-US"/>
              <a:t>Research Paper 2 Status - Acceptance </a:t>
            </a:r>
          </a:p>
          <a:p>
            <a:pPr algn="ctr"/>
            <a:r>
              <a:rPr lang="en-US"/>
              <a:t>Reference</a:t>
            </a:r>
          </a:p>
        </p:txBody>
      </p:sp>
      <p:pic>
        <p:nvPicPr>
          <p:cNvPr id="2097153" name="Picture 2" descr="ABESEC OLA">
            <a:extLst>
              <a:ext uri="{FF2B5EF4-FFF2-40B4-BE49-F238E27FC236}">
                <a16:creationId xmlns:a16="http://schemas.microsoft.com/office/drawing/2014/main" id="{CD0C3884-2E49-8E1D-4F3F-E0E48A7DE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2" name="Title 1">
            <a:extLst>
              <a:ext uri="{FF2B5EF4-FFF2-40B4-BE49-F238E27FC236}">
                <a16:creationId xmlns:a16="http://schemas.microsoft.com/office/drawing/2014/main" id="{608B0B31-77AE-97BC-B543-41795BBF0B16}"/>
              </a:ext>
            </a:extLst>
          </p:cNvPr>
          <p:cNvSpPr txBox="1"/>
          <p:nvPr/>
        </p:nvSpPr>
        <p:spPr>
          <a:xfrm>
            <a:off x="2147067" y="197695"/>
            <a:ext cx="8467046" cy="618752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Proposed Methodology</a:t>
            </a:r>
          </a:p>
        </p:txBody>
      </p:sp>
      <p:sp>
        <p:nvSpPr>
          <p:cNvPr id="1048594" name="Footer Placeholder 3">
            <a:extLst>
              <a:ext uri="{FF2B5EF4-FFF2-40B4-BE49-F238E27FC236}">
                <a16:creationId xmlns:a16="http://schemas.microsoft.com/office/drawing/2014/main" id="{413E8798-F6DB-03EA-4C01-927F565B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ea typeface="Calibri"/>
                <a:cs typeface="Calibri"/>
              </a:rPr>
              <a:t>8</a:t>
            </a:r>
            <a:endParaRPr lang="en-IN" dirty="0">
              <a:ea typeface="Calibri"/>
              <a:cs typeface="Calibri"/>
            </a:endParaRPr>
          </a:p>
        </p:txBody>
      </p:sp>
      <p:sp>
        <p:nvSpPr>
          <p:cNvPr id="1048660" name="TextBox 1048659">
            <a:extLst>
              <a:ext uri="{FF2B5EF4-FFF2-40B4-BE49-F238E27FC236}">
                <a16:creationId xmlns:a16="http://schemas.microsoft.com/office/drawing/2014/main" id="{38ADABBC-2FFC-8C47-086B-6047E1A230D2}"/>
              </a:ext>
            </a:extLst>
          </p:cNvPr>
          <p:cNvSpPr txBox="1"/>
          <p:nvPr/>
        </p:nvSpPr>
        <p:spPr>
          <a:xfrm>
            <a:off x="4165600" y="14002278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sz="280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DC6E2-8EC1-4D80-0213-966A30D2E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48549"/>
            <a:ext cx="12192000" cy="32535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EC7527-8C9B-7C6B-3512-24267AD84CF1}"/>
              </a:ext>
            </a:extLst>
          </p:cNvPr>
          <p:cNvSpPr txBox="1"/>
          <p:nvPr/>
        </p:nvSpPr>
        <p:spPr>
          <a:xfrm>
            <a:off x="4766414" y="5769619"/>
            <a:ext cx="26633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Fig: </a:t>
            </a:r>
            <a:r>
              <a:rPr lang="en-US">
                <a:ea typeface="+mn-lt"/>
                <a:cs typeface="+mn-lt"/>
              </a:rPr>
              <a:t>Architecture Diagram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99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3"/>
    </mc:Choice>
    <mc:Fallback xmlns="">
      <p:transition spd="slow" advTm="342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F05C9-67DF-0BE1-EF2E-0853B035E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91" name="Process 4">
            <a:extLst>
              <a:ext uri="{FF2B5EF4-FFF2-40B4-BE49-F238E27FC236}">
                <a16:creationId xmlns:a16="http://schemas.microsoft.com/office/drawing/2014/main" id="{4E1C5D48-6EB2-8D99-9684-2F65F1E48679}"/>
              </a:ext>
            </a:extLst>
          </p:cNvPr>
          <p:cNvSpPr/>
          <p:nvPr/>
        </p:nvSpPr>
        <p:spPr>
          <a:xfrm>
            <a:off x="-281" y="0"/>
            <a:ext cx="12192000" cy="705549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/>
              <a:t>Mem</a:t>
            </a:r>
            <a:r>
              <a:rPr lang="en-US" err="1">
                <a:solidFill>
                  <a:srgbClr val="000000"/>
                </a:solidFill>
              </a:rPr>
              <a:t>Fig:Memory</a:t>
            </a:r>
            <a:r>
              <a:rPr lang="en-US">
                <a:solidFill>
                  <a:srgbClr val="000000"/>
                </a:solidFill>
              </a:rPr>
              <a:t> Repository Detail</a:t>
            </a:r>
          </a:p>
          <a:p>
            <a:pPr algn="ctr"/>
            <a:r>
              <a:rPr lang="en-US" err="1"/>
              <a:t>ory</a:t>
            </a:r>
            <a:r>
              <a:rPr lang="en-US"/>
              <a:t> Repository Detail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2097153" name="Picture 2" descr="ABESEC OLA">
            <a:extLst>
              <a:ext uri="{FF2B5EF4-FFF2-40B4-BE49-F238E27FC236}">
                <a16:creationId xmlns:a16="http://schemas.microsoft.com/office/drawing/2014/main" id="{D729BFC5-57B1-E812-3C4A-536012287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2" name="Title 1">
            <a:extLst>
              <a:ext uri="{FF2B5EF4-FFF2-40B4-BE49-F238E27FC236}">
                <a16:creationId xmlns:a16="http://schemas.microsoft.com/office/drawing/2014/main" id="{AEEDC148-F62A-28D4-4FB5-73CE7E07D26C}"/>
              </a:ext>
            </a:extLst>
          </p:cNvPr>
          <p:cNvSpPr txBox="1"/>
          <p:nvPr/>
        </p:nvSpPr>
        <p:spPr>
          <a:xfrm>
            <a:off x="2147067" y="197695"/>
            <a:ext cx="8467046" cy="618752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Proposed Methodology</a:t>
            </a:r>
          </a:p>
        </p:txBody>
      </p:sp>
      <p:sp>
        <p:nvSpPr>
          <p:cNvPr id="1048594" name="Footer Placeholder 3">
            <a:extLst>
              <a:ext uri="{FF2B5EF4-FFF2-40B4-BE49-F238E27FC236}">
                <a16:creationId xmlns:a16="http://schemas.microsoft.com/office/drawing/2014/main" id="{6C8E57A3-6589-16E1-7321-E5EED12FA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ea typeface="Calibri"/>
                <a:cs typeface="Calibri"/>
              </a:rPr>
              <a:t>9</a:t>
            </a:r>
            <a:endParaRPr lang="en-IN" dirty="0">
              <a:ea typeface="Calibri"/>
              <a:cs typeface="Calibri"/>
            </a:endParaRPr>
          </a:p>
        </p:txBody>
      </p:sp>
      <p:sp>
        <p:nvSpPr>
          <p:cNvPr id="1048660" name="TextBox 1048659">
            <a:extLst>
              <a:ext uri="{FF2B5EF4-FFF2-40B4-BE49-F238E27FC236}">
                <a16:creationId xmlns:a16="http://schemas.microsoft.com/office/drawing/2014/main" id="{B27C05BC-BA40-D418-CBA2-AFA4CB33D31A}"/>
              </a:ext>
            </a:extLst>
          </p:cNvPr>
          <p:cNvSpPr txBox="1"/>
          <p:nvPr/>
        </p:nvSpPr>
        <p:spPr>
          <a:xfrm>
            <a:off x="4165600" y="14002278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sz="280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73036B-030B-C194-0ACE-43A266CF1B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1" b="237"/>
          <a:stretch>
            <a:fillRect/>
          </a:stretch>
        </p:blipFill>
        <p:spPr>
          <a:xfrm>
            <a:off x="2502127" y="1146175"/>
            <a:ext cx="7195009" cy="30416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BCAE32-0B9F-DF89-F5CF-4B46B8C44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0530" y="4552497"/>
            <a:ext cx="7362825" cy="135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38CFA7-B058-2D92-2915-3F5027BA8A87}"/>
              </a:ext>
            </a:extLst>
          </p:cNvPr>
          <p:cNvSpPr txBox="1"/>
          <p:nvPr/>
        </p:nvSpPr>
        <p:spPr>
          <a:xfrm>
            <a:off x="4597304" y="4185079"/>
            <a:ext cx="31423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Fig:</a:t>
            </a:r>
            <a:r>
              <a:rPr lang="en-US">
                <a:ea typeface="+mn-lt"/>
                <a:cs typeface="+mn-lt"/>
              </a:rPr>
              <a:t> Memory Repository Detail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27731A-F0A7-5B00-D01A-F5D3801A149F}"/>
              </a:ext>
            </a:extLst>
          </p:cNvPr>
          <p:cNvSpPr txBox="1"/>
          <p:nvPr/>
        </p:nvSpPr>
        <p:spPr>
          <a:xfrm>
            <a:off x="4796398" y="607489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Fig: </a:t>
            </a:r>
            <a:r>
              <a:rPr lang="en-US">
                <a:ea typeface="+mn-lt"/>
                <a:cs typeface="+mn-lt"/>
              </a:rPr>
              <a:t>Overall Workflow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1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3"/>
    </mc:Choice>
    <mc:Fallback xmlns="">
      <p:transition spd="slow" advTm="342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8E862-9160-7ACE-8CA8-9B17B6FE3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91" name="Process 4">
            <a:extLst>
              <a:ext uri="{FF2B5EF4-FFF2-40B4-BE49-F238E27FC236}">
                <a16:creationId xmlns:a16="http://schemas.microsoft.com/office/drawing/2014/main" id="{B8CE6275-0CA7-A4F8-72F9-A27A7A5E75A7}"/>
              </a:ext>
            </a:extLst>
          </p:cNvPr>
          <p:cNvSpPr/>
          <p:nvPr/>
        </p:nvSpPr>
        <p:spPr>
          <a:xfrm>
            <a:off x="-123652" y="-94343"/>
            <a:ext cx="12192000" cy="705549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Introduction </a:t>
            </a:r>
          </a:p>
          <a:p>
            <a:pPr algn="ctr"/>
            <a:r>
              <a:rPr lang="en-US"/>
              <a:t>Methodology with flow diagram </a:t>
            </a:r>
          </a:p>
          <a:p>
            <a:pPr algn="ctr"/>
            <a:r>
              <a:rPr lang="en-US"/>
              <a:t>Complete implementation </a:t>
            </a:r>
          </a:p>
          <a:p>
            <a:pPr algn="ctr"/>
            <a:r>
              <a:rPr lang="en-US"/>
              <a:t>Research Paper 1 status- Certificate </a:t>
            </a:r>
          </a:p>
          <a:p>
            <a:pPr algn="ctr"/>
            <a:r>
              <a:rPr lang="en-US"/>
              <a:t>Research Paper 2 Status - Acceptance </a:t>
            </a:r>
          </a:p>
          <a:p>
            <a:pPr algn="ctr"/>
            <a:r>
              <a:rPr lang="en-US"/>
              <a:t>Reference</a:t>
            </a:r>
          </a:p>
        </p:txBody>
      </p:sp>
      <p:pic>
        <p:nvPicPr>
          <p:cNvPr id="2097153" name="Picture 2" descr="ABESEC OLA">
            <a:extLst>
              <a:ext uri="{FF2B5EF4-FFF2-40B4-BE49-F238E27FC236}">
                <a16:creationId xmlns:a16="http://schemas.microsoft.com/office/drawing/2014/main" id="{B0E35151-D2EA-4BE9-4573-6B9E268FD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2" name="Title 1">
            <a:extLst>
              <a:ext uri="{FF2B5EF4-FFF2-40B4-BE49-F238E27FC236}">
                <a16:creationId xmlns:a16="http://schemas.microsoft.com/office/drawing/2014/main" id="{4D6BA067-4090-57B6-A407-879208893A97}"/>
              </a:ext>
            </a:extLst>
          </p:cNvPr>
          <p:cNvSpPr txBox="1"/>
          <p:nvPr/>
        </p:nvSpPr>
        <p:spPr>
          <a:xfrm>
            <a:off x="2147067" y="197695"/>
            <a:ext cx="8467046" cy="618752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Expected outcomes</a:t>
            </a:r>
          </a:p>
        </p:txBody>
      </p:sp>
      <p:sp>
        <p:nvSpPr>
          <p:cNvPr id="1048594" name="Footer Placeholder 3">
            <a:extLst>
              <a:ext uri="{FF2B5EF4-FFF2-40B4-BE49-F238E27FC236}">
                <a16:creationId xmlns:a16="http://schemas.microsoft.com/office/drawing/2014/main" id="{A527B641-81FC-D653-B72D-43685B5D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ea typeface="Calibri"/>
                <a:cs typeface="Calibri"/>
              </a:rPr>
              <a:t>10</a:t>
            </a:r>
            <a:endParaRPr lang="en-IN" dirty="0">
              <a:ea typeface="Calibri"/>
              <a:cs typeface="Calibri"/>
            </a:endParaRPr>
          </a:p>
        </p:txBody>
      </p:sp>
      <p:sp>
        <p:nvSpPr>
          <p:cNvPr id="1048660" name="TextBox 1048659">
            <a:extLst>
              <a:ext uri="{FF2B5EF4-FFF2-40B4-BE49-F238E27FC236}">
                <a16:creationId xmlns:a16="http://schemas.microsoft.com/office/drawing/2014/main" id="{9FC5C06F-0D34-5362-11E7-C385DD2542DE}"/>
              </a:ext>
            </a:extLst>
          </p:cNvPr>
          <p:cNvSpPr txBox="1"/>
          <p:nvPr/>
        </p:nvSpPr>
        <p:spPr>
          <a:xfrm>
            <a:off x="4165600" y="14002278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35E304-4C2B-0BAB-BC17-E3ADEB5C9547}"/>
              </a:ext>
            </a:extLst>
          </p:cNvPr>
          <p:cNvSpPr txBox="1"/>
          <p:nvPr/>
        </p:nvSpPr>
        <p:spPr>
          <a:xfrm>
            <a:off x="420915" y="1273628"/>
            <a:ext cx="11480798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ea typeface="+mn-lt"/>
                <a:cs typeface="Times New Roman"/>
              </a:rPr>
              <a:t>Develop an adaptive memory lifecycle framework that enables efficient, scalable, and reliable long-term memory management for Agentic AI systems.</a:t>
            </a:r>
          </a:p>
          <a:p>
            <a:endParaRPr lang="en-US" sz="2000" b="1" dirty="0">
              <a:latin typeface="Times New Roman"/>
              <a:cs typeface="Times New Roman"/>
            </a:endParaRPr>
          </a:p>
          <a:p>
            <a:r>
              <a:rPr lang="en-US" sz="2200" b="1">
                <a:latin typeface="Times New Roman"/>
                <a:cs typeface="Times New Roman"/>
              </a:rPr>
              <a:t>Key Outcomes</a:t>
            </a:r>
            <a:endParaRPr lang="en-US" sz="220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Accurate Retrieval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Fetch the most relevant memories.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Reduced Memory Bloat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Remove duplicate and obsolete data.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Lower Cost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Reduce token usage and storage requirements.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Faster Responses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Improve retrieval speed and latency.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Better Long-Term Reasoning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Retain useful knowledge over time.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Adaptive Learning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Continuously improve using feedback.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Research Contribution</a:t>
            </a:r>
            <a:r>
              <a:rPr lang="en-US" sz="2000">
                <a:latin typeface="Times New Roman"/>
                <a:ea typeface="+mn-lt"/>
                <a:cs typeface="Times New Roman"/>
              </a:rPr>
              <a:t> – A novel adaptive memory lifecycle framework for future AI systems.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218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3"/>
    </mc:Choice>
    <mc:Fallback xmlns="">
      <p:transition spd="slow" advTm="342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E6380-ADCE-3E08-883B-C60A68D8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91" name="Process 4">
            <a:extLst>
              <a:ext uri="{FF2B5EF4-FFF2-40B4-BE49-F238E27FC236}">
                <a16:creationId xmlns:a16="http://schemas.microsoft.com/office/drawing/2014/main" id="{9D50291F-97DD-4EE2-C7AE-FF87BB7E6D6F}"/>
              </a:ext>
            </a:extLst>
          </p:cNvPr>
          <p:cNvSpPr/>
          <p:nvPr/>
        </p:nvSpPr>
        <p:spPr>
          <a:xfrm>
            <a:off x="-479252" y="0"/>
            <a:ext cx="12192000" cy="705549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Introduction </a:t>
            </a:r>
          </a:p>
          <a:p>
            <a:pPr algn="ctr"/>
            <a:r>
              <a:rPr lang="en-US"/>
              <a:t>Methodology with flow diagram </a:t>
            </a:r>
          </a:p>
          <a:p>
            <a:pPr algn="ctr"/>
            <a:r>
              <a:rPr lang="en-US"/>
              <a:t>Complete implementation </a:t>
            </a:r>
          </a:p>
          <a:p>
            <a:pPr algn="ctr"/>
            <a:r>
              <a:rPr lang="en-US"/>
              <a:t>Research Paper 1 status- Certificate </a:t>
            </a:r>
          </a:p>
          <a:p>
            <a:pPr algn="ctr"/>
            <a:r>
              <a:rPr lang="en-US"/>
              <a:t>Research Paper 2 Status - Acceptance </a:t>
            </a:r>
          </a:p>
          <a:p>
            <a:pPr algn="ctr"/>
            <a:r>
              <a:rPr lang="en-US"/>
              <a:t>Reference</a:t>
            </a:r>
          </a:p>
        </p:txBody>
      </p:sp>
      <p:pic>
        <p:nvPicPr>
          <p:cNvPr id="2097153" name="Picture 2" descr="ABESEC OLA">
            <a:extLst>
              <a:ext uri="{FF2B5EF4-FFF2-40B4-BE49-F238E27FC236}">
                <a16:creationId xmlns:a16="http://schemas.microsoft.com/office/drawing/2014/main" id="{E035AC3A-A9AA-DFCB-6DFE-D4D64A611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2" name="Title 1">
            <a:extLst>
              <a:ext uri="{FF2B5EF4-FFF2-40B4-BE49-F238E27FC236}">
                <a16:creationId xmlns:a16="http://schemas.microsoft.com/office/drawing/2014/main" id="{B38AA46E-17A3-F87B-01EC-D5EA4DE0F821}"/>
              </a:ext>
            </a:extLst>
          </p:cNvPr>
          <p:cNvSpPr txBox="1"/>
          <p:nvPr/>
        </p:nvSpPr>
        <p:spPr>
          <a:xfrm>
            <a:off x="2147067" y="197695"/>
            <a:ext cx="8467046" cy="618752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err="1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Refrences</a:t>
            </a:r>
          </a:p>
        </p:txBody>
      </p:sp>
      <p:sp>
        <p:nvSpPr>
          <p:cNvPr id="1048594" name="Footer Placeholder 3">
            <a:extLst>
              <a:ext uri="{FF2B5EF4-FFF2-40B4-BE49-F238E27FC236}">
                <a16:creationId xmlns:a16="http://schemas.microsoft.com/office/drawing/2014/main" id="{D6A0F5D3-2C36-7077-24E0-8712C994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ea typeface="Calibri"/>
                <a:cs typeface="Calibri"/>
              </a:rPr>
              <a:t>11</a:t>
            </a:r>
            <a:endParaRPr lang="en-IN" dirty="0">
              <a:ea typeface="Calibri"/>
              <a:cs typeface="Calibri"/>
            </a:endParaRPr>
          </a:p>
        </p:txBody>
      </p:sp>
      <p:sp>
        <p:nvSpPr>
          <p:cNvPr id="1048660" name="TextBox 1048659">
            <a:extLst>
              <a:ext uri="{FF2B5EF4-FFF2-40B4-BE49-F238E27FC236}">
                <a16:creationId xmlns:a16="http://schemas.microsoft.com/office/drawing/2014/main" id="{940448BF-3561-7F18-606E-352993C8EA8E}"/>
              </a:ext>
            </a:extLst>
          </p:cNvPr>
          <p:cNvSpPr txBox="1"/>
          <p:nvPr/>
        </p:nvSpPr>
        <p:spPr>
          <a:xfrm>
            <a:off x="4165600" y="14002278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FD4563-AFD8-3A84-C0EA-5BFECA6A8819}"/>
              </a:ext>
            </a:extLst>
          </p:cNvPr>
          <p:cNvSpPr txBox="1"/>
          <p:nvPr/>
        </p:nvSpPr>
        <p:spPr>
          <a:xfrm>
            <a:off x="21772" y="954314"/>
            <a:ext cx="11691255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 dirty="0">
                <a:latin typeface="Times New Roman"/>
                <a:ea typeface="+mn-lt"/>
                <a:cs typeface="Times New Roman"/>
              </a:rPr>
              <a:t>[1]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C. Packer, S. Wooders, K. Lin, V. Fang, S. G. Patil, I. Stoica, and J. E. Gonzalez,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"</a:t>
            </a:r>
            <a:r>
              <a:rPr lang="en-US" sz="2000" b="1" dirty="0" err="1">
                <a:latin typeface="Times New Roman"/>
                <a:ea typeface="+mn-lt"/>
                <a:cs typeface="Times New Roman"/>
              </a:rPr>
              <a:t>MemGPT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: Towards LLMs as Operating Systems,"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i="1" dirty="0" err="1">
                <a:latin typeface="Times New Roman"/>
                <a:ea typeface="+mn-lt"/>
                <a:cs typeface="Times New Roman"/>
              </a:rPr>
              <a:t>arXiv</a:t>
            </a:r>
            <a:r>
              <a:rPr lang="en-US" sz="2000" i="1" dirty="0">
                <a:latin typeface="Times New Roman"/>
                <a:ea typeface="+mn-lt"/>
                <a:cs typeface="Times New Roman"/>
              </a:rPr>
              <a:t> preprint arXiv:2310.08560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, 2023.</a:t>
            </a:r>
            <a:endParaRPr lang="en-US" dirty="0">
              <a:latin typeface="Times New Roman"/>
              <a:cs typeface="Times New Roman"/>
            </a:endParaRPr>
          </a:p>
          <a:p>
            <a:pPr algn="just"/>
            <a:r>
              <a:rPr lang="en-US" sz="2000" b="1">
                <a:latin typeface="Times New Roman"/>
                <a:ea typeface="+mn-lt"/>
                <a:cs typeface="Times New Roman"/>
              </a:rPr>
              <a:t>[2]</a:t>
            </a:r>
            <a:r>
              <a:rPr lang="en-US" sz="2000">
                <a:latin typeface="Times New Roman"/>
                <a:ea typeface="+mn-lt"/>
                <a:cs typeface="Times New Roman"/>
              </a:rPr>
              <a:t> Z. Zhang, Q. Dai, X. Bo, C. Ma, R. Li, X. Chen, J. Zhu, Z. Dong, and J.-R. Wen,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"A Survey on the Memory Mechanism of Large Language Model-Based Agents,"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i="1">
                <a:latin typeface="Times New Roman"/>
                <a:ea typeface="+mn-lt"/>
                <a:cs typeface="Times New Roman"/>
              </a:rPr>
              <a:t>ACM Computing Surveys</a:t>
            </a:r>
            <a:r>
              <a:rPr lang="en-US" sz="2000">
                <a:latin typeface="Times New Roman"/>
                <a:ea typeface="+mn-lt"/>
                <a:cs typeface="Times New Roman"/>
              </a:rPr>
              <a:t>, vol. 58, no. 4, 2025.</a:t>
            </a:r>
            <a:endParaRPr lang="en-US">
              <a:latin typeface="Times New Roman"/>
              <a:cs typeface="Times New Roman"/>
            </a:endParaRPr>
          </a:p>
          <a:p>
            <a:pPr algn="just"/>
            <a:r>
              <a:rPr lang="en-US" sz="2000" b="1">
                <a:latin typeface="Times New Roman"/>
                <a:ea typeface="+mn-lt"/>
                <a:cs typeface="Times New Roman"/>
              </a:rPr>
              <a:t>[3]</a:t>
            </a:r>
            <a:r>
              <a:rPr lang="en-US" sz="2000">
                <a:latin typeface="Times New Roman"/>
                <a:ea typeface="+mn-lt"/>
                <a:cs typeface="Times New Roman"/>
              </a:rPr>
              <a:t> Y. Yu, L. Yao, Y. Xie, Q. Tan, J. Feng, Y. Li, and L. Wu,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"Agentic Memory: Learning Unified Long-Term and Short-Term Memory Management for Large Language Model Agents,"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i="1">
                <a:latin typeface="Times New Roman"/>
                <a:ea typeface="+mn-lt"/>
                <a:cs typeface="Times New Roman"/>
              </a:rPr>
              <a:t>Proceedings of ACL</a:t>
            </a:r>
            <a:r>
              <a:rPr lang="en-US" sz="2000">
                <a:latin typeface="Times New Roman"/>
                <a:ea typeface="+mn-lt"/>
                <a:cs typeface="Times New Roman"/>
              </a:rPr>
              <a:t>, 2026.</a:t>
            </a:r>
            <a:endParaRPr lang="en-US">
              <a:latin typeface="Times New Roman"/>
              <a:cs typeface="Times New Roman"/>
            </a:endParaRPr>
          </a:p>
          <a:p>
            <a:pPr algn="just"/>
            <a:r>
              <a:rPr lang="en-US" sz="2000" b="1" dirty="0">
                <a:latin typeface="Times New Roman"/>
                <a:ea typeface="+mn-lt"/>
                <a:cs typeface="Times New Roman"/>
              </a:rPr>
              <a:t>[4]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P. Du,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"Memory for Autonomous LLM Agents: Mechanisms, Evaluation, and Emerging Frontiers,"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i="1" dirty="0" err="1">
                <a:latin typeface="Times New Roman"/>
                <a:ea typeface="+mn-lt"/>
                <a:cs typeface="Times New Roman"/>
              </a:rPr>
              <a:t>arXiv</a:t>
            </a:r>
            <a:r>
              <a:rPr lang="en-US" sz="2000" i="1" dirty="0">
                <a:latin typeface="Times New Roman"/>
                <a:ea typeface="+mn-lt"/>
                <a:cs typeface="Times New Roman"/>
              </a:rPr>
              <a:t> preprint arXiv:2603.07670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, 2026.</a:t>
            </a:r>
            <a:endParaRPr lang="en-US" dirty="0">
              <a:latin typeface="Times New Roman"/>
              <a:cs typeface="Times New Roman"/>
            </a:endParaRPr>
          </a:p>
          <a:p>
            <a:pPr algn="just"/>
            <a:r>
              <a:rPr lang="en-US" sz="2000" b="1" dirty="0">
                <a:latin typeface="Times New Roman"/>
                <a:ea typeface="+mn-lt"/>
                <a:cs typeface="Times New Roman"/>
              </a:rPr>
              <a:t>[5]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D. Jiang, Y. Li, S. Wei, J. Yang, A. Kishore, A. Zhao, D. Kang, X. Hu, F. Chen, Q. Li, and B. Li,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"Anatomy of Agentic Memory: Taxonomy and Empirical Analysis of Evaluation and System Limitations,"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i="1" dirty="0" err="1">
                <a:latin typeface="Times New Roman"/>
                <a:ea typeface="+mn-lt"/>
                <a:cs typeface="Times New Roman"/>
              </a:rPr>
              <a:t>arXiv</a:t>
            </a:r>
            <a:r>
              <a:rPr lang="en-US" sz="2000" i="1" dirty="0">
                <a:latin typeface="Times New Roman"/>
                <a:ea typeface="+mn-lt"/>
                <a:cs typeface="Times New Roman"/>
              </a:rPr>
              <a:t> preprint arXiv:2602.19320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, 2026.</a:t>
            </a:r>
            <a:endParaRPr lang="en-US" dirty="0">
              <a:latin typeface="Times New Roman"/>
              <a:cs typeface="Times New Roman"/>
            </a:endParaRPr>
          </a:p>
          <a:p>
            <a:pPr algn="just"/>
            <a:r>
              <a:rPr lang="en-US" sz="2000" b="1">
                <a:latin typeface="Times New Roman"/>
                <a:ea typeface="+mn-lt"/>
                <a:cs typeface="Times New Roman"/>
              </a:rPr>
              <a:t>[6]</a:t>
            </a:r>
            <a:r>
              <a:rPr lang="en-US" sz="2000">
                <a:latin typeface="Times New Roman"/>
                <a:ea typeface="+mn-lt"/>
                <a:cs typeface="Times New Roman"/>
              </a:rPr>
              <a:t> J. Luo, Y. Tian, C. Cao, Z. Luo, H. Lin, K. Li, C. Kong, R. Yang, and J. Ma,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"From Storage to Experience: A Survey on the Evolution of LLM Agent Memory Mechanisms,"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i="1">
                <a:latin typeface="Times New Roman"/>
                <a:ea typeface="+mn-lt"/>
                <a:cs typeface="Times New Roman"/>
              </a:rPr>
              <a:t>Findings of ACL</a:t>
            </a:r>
            <a:r>
              <a:rPr lang="en-US" sz="2000">
                <a:latin typeface="Times New Roman"/>
                <a:ea typeface="+mn-lt"/>
                <a:cs typeface="Times New Roman"/>
              </a:rPr>
              <a:t>, 2026.</a:t>
            </a:r>
            <a:endParaRPr lang="en-US">
              <a:latin typeface="Times New Roman"/>
              <a:cs typeface="Times New Roman"/>
            </a:endParaRPr>
          </a:p>
          <a:p>
            <a:pPr algn="just"/>
            <a:r>
              <a:rPr lang="en-US" sz="2000" b="1" dirty="0">
                <a:latin typeface="Times New Roman"/>
                <a:ea typeface="+mn-lt"/>
                <a:cs typeface="Times New Roman"/>
              </a:rPr>
              <a:t>[7]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S. Yao, J. Zhao, D. Yu, N. Du, I. Shafran, K. Narasimhan, and Y. Cao,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"</a:t>
            </a:r>
            <a:r>
              <a:rPr lang="en-US" sz="2000" b="1" dirty="0" err="1">
                <a:latin typeface="Times New Roman"/>
                <a:ea typeface="+mn-lt"/>
                <a:cs typeface="Times New Roman"/>
              </a:rPr>
              <a:t>ReAct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: Synergizing Reasoning and Acting in Language Models,"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i="1" dirty="0">
                <a:latin typeface="Times New Roman"/>
                <a:ea typeface="+mn-lt"/>
                <a:cs typeface="Times New Roman"/>
              </a:rPr>
              <a:t>International Conference on Learning Representations (ICLR)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, 2023.</a:t>
            </a:r>
            <a:endParaRPr lang="en-US" dirty="0">
              <a:latin typeface="Times New Roman"/>
              <a:cs typeface="Times New Roman"/>
            </a:endParaRPr>
          </a:p>
          <a:p>
            <a:pPr algn="just"/>
            <a:r>
              <a:rPr lang="en-US" sz="2000" b="1">
                <a:latin typeface="Times New Roman"/>
                <a:ea typeface="+mn-lt"/>
                <a:cs typeface="Times New Roman"/>
              </a:rPr>
              <a:t>[8]</a:t>
            </a:r>
            <a:r>
              <a:rPr lang="en-US" sz="2000">
                <a:latin typeface="Times New Roman"/>
                <a:ea typeface="+mn-lt"/>
                <a:cs typeface="Times New Roman"/>
              </a:rPr>
              <a:t> L. Wang, Y. Ma, R. Zhang, Y. Yang, J. Shu, Z. Chen, et al.,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"A Survey on Large Language Model Based Autonomous Agents,"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i="1">
                <a:latin typeface="Times New Roman"/>
                <a:ea typeface="+mn-lt"/>
                <a:cs typeface="Times New Roman"/>
              </a:rPr>
              <a:t>Frontiers of Computer Science</a:t>
            </a:r>
            <a:r>
              <a:rPr lang="en-US" sz="2000">
                <a:latin typeface="Times New Roman"/>
                <a:ea typeface="+mn-lt"/>
                <a:cs typeface="Times New Roman"/>
              </a:rPr>
              <a:t>, vol. 18, no. 6, 2024.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778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3"/>
    </mc:Choice>
    <mc:Fallback xmlns="">
      <p:transition spd="slow" advTm="342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95" name="Process 4"/>
          <p:cNvSpPr/>
          <p:nvPr/>
        </p:nvSpPr>
        <p:spPr>
          <a:xfrm>
            <a:off x="-166271" y="-29765"/>
            <a:ext cx="12192000" cy="6858000"/>
          </a:xfrm>
          <a:prstGeom prst="flowChartProcess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97154" name="Picture 2" descr="ABESEC OL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" y="73942"/>
            <a:ext cx="1971747" cy="8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6" name="Title 1"/>
          <p:cNvSpPr txBox="1"/>
          <p:nvPr/>
        </p:nvSpPr>
        <p:spPr>
          <a:xfrm>
            <a:off x="1696206" y="2654182"/>
            <a:ext cx="8467046" cy="618752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algn="ctr"/>
            <a:endParaRPr lang="en-US" sz="3800" b="1">
              <a:latin typeface="+mn-lt"/>
            </a:endParaRPr>
          </a:p>
          <a:p>
            <a:pPr algn="ctr"/>
            <a:endParaRPr lang="en-US" sz="3800" b="1">
              <a:latin typeface="+mn-lt"/>
            </a:endParaRPr>
          </a:p>
        </p:txBody>
      </p:sp>
      <p:sp>
        <p:nvSpPr>
          <p:cNvPr id="104859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12</a:t>
            </a:r>
            <a:endParaRPr lang="en-IN">
              <a:ea typeface="Calibri"/>
              <a:cs typeface="Calibri"/>
            </a:endParaRPr>
          </a:p>
        </p:txBody>
      </p:sp>
      <p:sp>
        <p:nvSpPr>
          <p:cNvPr id="1048598" name="TextBox 8"/>
          <p:cNvSpPr txBox="1"/>
          <p:nvPr/>
        </p:nvSpPr>
        <p:spPr>
          <a:xfrm>
            <a:off x="1005670" y="1051790"/>
            <a:ext cx="8851122" cy="662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6400" indent="-406400">
              <a:lnSpc>
                <a:spcPct val="107000"/>
              </a:lnSpc>
              <a:spcAft>
                <a:spcPts val="800"/>
              </a:spcAft>
            </a:pPr>
            <a:br>
              <a:rPr lang="en-IN" sz="18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3"/>
    </mc:Choice>
    <mc:Fallback xmlns="">
      <p:transition spd="slow" advTm="3423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Death Battle</dc:title>
  <dc:creator>Harsh Khatter</dc:creator>
  <cp:revision>133</cp:revision>
  <dcterms:created xsi:type="dcterms:W3CDTF">2020-07-18T03:21:19Z</dcterms:created>
  <dcterms:modified xsi:type="dcterms:W3CDTF">2026-08-30T13:10:09Z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b3a57cfa415f4b63938208c45b356e6e</vt:lpwstr>
  </property>
</Properties>
</file>